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9E5C7F2-91A6-4ED2-A600-1F0E94FAC5C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2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450" y="261257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310755" y="-1143000"/>
            <a:ext cx="5943600" cy="5943600"/>
          </a:xfrm>
          <a:prstGeom prst="ellipse">
            <a:avLst/>
          </a:prstGeom>
          <a:solidFill>
            <a:srgbClr val="1A3A6B">
              <a:alpha val="45000"/>
            </a:srgbClr>
          </a:solidFill>
          <a:ln w="12700">
            <a:solidFill>
              <a:srgbClr val="1A3A6B">
                <a:alpha val="45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02920" y="1463040"/>
            <a:ext cx="1097280" cy="50292"/>
          </a:xfrm>
          <a:prstGeom prst="rect">
            <a:avLst/>
          </a:prstGeom>
          <a:solidFill>
            <a:schemeClr val="bg1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02920" y="1005840"/>
            <a:ext cx="5486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/>
              <a:t>TEAM PROJECT PRESENTATION</a:t>
            </a:r>
            <a:endParaRPr lang="en-US" sz="900" dirty="0"/>
          </a:p>
        </p:txBody>
      </p:sp>
      <p:sp>
        <p:nvSpPr>
          <p:cNvPr id="246" name="Text 244"/>
          <p:cNvSpPr/>
          <p:nvPr/>
        </p:nvSpPr>
        <p:spPr>
          <a:xfrm>
            <a:off x="502920" y="1600200"/>
            <a:ext cx="6858000" cy="20116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Campus Student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Guide App</a:t>
            </a:r>
            <a:endParaRPr lang="en-US" sz="5200" dirty="0"/>
          </a:p>
        </p:txBody>
      </p:sp>
      <p:sp>
        <p:nvSpPr>
          <p:cNvPr id="247" name="Text 245"/>
          <p:cNvSpPr/>
          <p:nvPr/>
        </p:nvSpPr>
        <p:spPr>
          <a:xfrm>
            <a:off x="502920" y="3520440"/>
            <a:ext cx="685800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/>
              <a:t>How we built it · How it works · What we achieved</a:t>
            </a:r>
            <a:endParaRPr lang="en-US" sz="1400" dirty="0"/>
          </a:p>
        </p:txBody>
      </p:sp>
      <p:sp>
        <p:nvSpPr>
          <p:cNvPr id="248" name="Shape 246"/>
          <p:cNvSpPr/>
          <p:nvPr/>
        </p:nvSpPr>
        <p:spPr>
          <a:xfrm>
            <a:off x="30145" y="4709160"/>
            <a:ext cx="9144000" cy="4343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57200" y="47091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0"/>
                </a:solidFill>
              </a:rPr>
              <a:t>IEEE Std 1016-2009  ·  React Native  ·  Node.js  ·  PostgreSQL  ·  May 2026</a:t>
            </a:r>
            <a:endParaRPr lang="en-US" sz="1000" dirty="0"/>
          </a:p>
        </p:txBody>
      </p:sp>
      <p:pic>
        <p:nvPicPr>
          <p:cNvPr id="2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05840"/>
            <a:ext cx="1188720" cy="118872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78308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A1628"/>
                </a:solidFill>
              </a:rPr>
              <a:t>OVERVIEW</a:t>
            </a:r>
            <a:endParaRPr lang="en-US" sz="7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245" name="Shape 243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365760" y="123444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02920" y="1307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48" name="Text 246"/>
          <p:cNvSpPr/>
          <p:nvPr/>
        </p:nvSpPr>
        <p:spPr>
          <a:xfrm>
            <a:off x="502920" y="1618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The Problem &amp; Our Team</a:t>
            </a:r>
            <a:endParaRPr lang="en-US" sz="1200" dirty="0"/>
          </a:p>
        </p:txBody>
      </p:sp>
      <p:sp>
        <p:nvSpPr>
          <p:cNvPr id="249" name="Text 247"/>
          <p:cNvSpPr/>
          <p:nvPr/>
        </p:nvSpPr>
        <p:spPr>
          <a:xfrm>
            <a:off x="502920" y="1892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/>
              <a:t>Why the app was needed and who built it</a:t>
            </a:r>
            <a:endParaRPr lang="en-US" sz="950" dirty="0"/>
          </a:p>
        </p:txBody>
      </p:sp>
      <p:sp>
        <p:nvSpPr>
          <p:cNvPr id="250" name="Shape 248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1" name="Shape 249"/>
          <p:cNvSpPr/>
          <p:nvPr/>
        </p:nvSpPr>
        <p:spPr>
          <a:xfrm>
            <a:off x="4800600" y="123444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4937760" y="1307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253" name="Text 251"/>
          <p:cNvSpPr/>
          <p:nvPr/>
        </p:nvSpPr>
        <p:spPr>
          <a:xfrm>
            <a:off x="4937760" y="1618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Our Development Process</a:t>
            </a:r>
            <a:endParaRPr lang="en-US" sz="1200" dirty="0"/>
          </a:p>
        </p:txBody>
      </p:sp>
      <p:sp>
        <p:nvSpPr>
          <p:cNvPr id="254" name="Text 252"/>
          <p:cNvSpPr/>
          <p:nvPr/>
        </p:nvSpPr>
        <p:spPr>
          <a:xfrm>
            <a:off x="4937760" y="1892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/>
              <a:t>Methodology, planning tools, and teamwork</a:t>
            </a:r>
            <a:endParaRPr lang="en-US" sz="950" dirty="0"/>
          </a:p>
        </p:txBody>
      </p:sp>
      <p:sp>
        <p:nvSpPr>
          <p:cNvPr id="255" name="Shape 253"/>
          <p:cNvSpPr/>
          <p:nvPr/>
        </p:nvSpPr>
        <p:spPr>
          <a:xfrm>
            <a:off x="365760" y="2423160"/>
            <a:ext cx="4160520" cy="10515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6" name="Shape 254"/>
          <p:cNvSpPr/>
          <p:nvPr/>
        </p:nvSpPr>
        <p:spPr>
          <a:xfrm>
            <a:off x="365760" y="242316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50292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8" name="Text 256"/>
          <p:cNvSpPr/>
          <p:nvPr/>
        </p:nvSpPr>
        <p:spPr>
          <a:xfrm>
            <a:off x="50292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System Architecture</a:t>
            </a:r>
            <a:endParaRPr lang="en-US" sz="1200" dirty="0"/>
          </a:p>
        </p:txBody>
      </p:sp>
      <p:sp>
        <p:nvSpPr>
          <p:cNvPr id="259" name="Text 257"/>
          <p:cNvSpPr/>
          <p:nvPr/>
        </p:nvSpPr>
        <p:spPr>
          <a:xfrm>
            <a:off x="502920" y="3081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/>
              <a:t>How the three tiers connect and communicate</a:t>
            </a:r>
            <a:endParaRPr lang="en-US" sz="950" dirty="0"/>
          </a:p>
        </p:txBody>
      </p:sp>
      <p:sp>
        <p:nvSpPr>
          <p:cNvPr id="260" name="Shape 258"/>
          <p:cNvSpPr/>
          <p:nvPr/>
        </p:nvSpPr>
        <p:spPr>
          <a:xfrm>
            <a:off x="4800600" y="2423160"/>
            <a:ext cx="4160520" cy="10515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1" name="Shape 259"/>
          <p:cNvSpPr/>
          <p:nvPr/>
        </p:nvSpPr>
        <p:spPr>
          <a:xfrm>
            <a:off x="4800600" y="242316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93776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3" name="Text 261"/>
          <p:cNvSpPr/>
          <p:nvPr/>
        </p:nvSpPr>
        <p:spPr>
          <a:xfrm>
            <a:off x="493776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Key Features</a:t>
            </a:r>
            <a:endParaRPr lang="en-US" sz="1200" dirty="0"/>
          </a:p>
        </p:txBody>
      </p:sp>
      <p:sp>
        <p:nvSpPr>
          <p:cNvPr id="264" name="Text 262"/>
          <p:cNvSpPr/>
          <p:nvPr/>
        </p:nvSpPr>
        <p:spPr>
          <a:xfrm>
            <a:off x="4937760" y="3081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/>
              <a:t>Map, Directory, Events, Notices, and more</a:t>
            </a:r>
            <a:endParaRPr lang="en-US" sz="950" dirty="0"/>
          </a:p>
        </p:txBody>
      </p:sp>
      <p:sp>
        <p:nvSpPr>
          <p:cNvPr id="265" name="Shape 263"/>
          <p:cNvSpPr/>
          <p:nvPr/>
        </p:nvSpPr>
        <p:spPr>
          <a:xfrm>
            <a:off x="365760" y="3602736"/>
            <a:ext cx="4160520" cy="10515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365760" y="361188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02920" y="36850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8" name="Text 266"/>
          <p:cNvSpPr/>
          <p:nvPr/>
        </p:nvSpPr>
        <p:spPr>
          <a:xfrm>
            <a:off x="502920" y="3995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Technical Decisions</a:t>
            </a:r>
            <a:endParaRPr lang="en-US" sz="1200" dirty="0"/>
          </a:p>
        </p:txBody>
      </p:sp>
      <p:sp>
        <p:nvSpPr>
          <p:cNvPr id="269" name="Text 267"/>
          <p:cNvSpPr/>
          <p:nvPr/>
        </p:nvSpPr>
        <p:spPr>
          <a:xfrm>
            <a:off x="50292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/>
              <a:t>Stack choices, patterns, and trade-offs</a:t>
            </a:r>
            <a:endParaRPr lang="en-US" sz="950" dirty="0"/>
          </a:p>
        </p:txBody>
      </p:sp>
      <p:sp>
        <p:nvSpPr>
          <p:cNvPr id="270" name="Shape 268"/>
          <p:cNvSpPr/>
          <p:nvPr/>
        </p:nvSpPr>
        <p:spPr>
          <a:xfrm>
            <a:off x="4800600" y="3611880"/>
            <a:ext cx="4160520" cy="10515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1" name="Shape 269"/>
          <p:cNvSpPr/>
          <p:nvPr/>
        </p:nvSpPr>
        <p:spPr>
          <a:xfrm>
            <a:off x="4800600" y="361188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4937760" y="36850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3" name="Text 271"/>
          <p:cNvSpPr/>
          <p:nvPr/>
        </p:nvSpPr>
        <p:spPr>
          <a:xfrm>
            <a:off x="4937760" y="3995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Challenges &amp; Lessons</a:t>
            </a:r>
            <a:endParaRPr lang="en-US" sz="1200" dirty="0"/>
          </a:p>
        </p:txBody>
      </p:sp>
      <p:sp>
        <p:nvSpPr>
          <p:cNvPr id="274" name="Text 272"/>
          <p:cNvSpPr/>
          <p:nvPr/>
        </p:nvSpPr>
        <p:spPr>
          <a:xfrm>
            <a:off x="493776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/>
              <a:t>What went wrong and what we learned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28016"/>
            <a:ext cx="1828800" cy="356616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A1628"/>
                </a:solidFill>
              </a:rPr>
              <a:t>01 · PROBLEM STATEMENT</a:t>
            </a:r>
            <a:endParaRPr lang="en-US" sz="10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Solved</a:t>
            </a:r>
            <a:endParaRPr lang="en-US" sz="3400" dirty="0"/>
          </a:p>
        </p:txBody>
      </p:sp>
      <p:sp>
        <p:nvSpPr>
          <p:cNvPr id="245" name="Shape 243"/>
          <p:cNvSpPr/>
          <p:nvPr/>
        </p:nvSpPr>
        <p:spPr>
          <a:xfrm>
            <a:off x="635508" y="1121794"/>
            <a:ext cx="1965960" cy="352044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1454480"/>
            <a:ext cx="640080" cy="640080"/>
          </a:xfrm>
          <a:prstGeom prst="rect">
            <a:avLst/>
          </a:prstGeom>
        </p:spPr>
      </p:pic>
      <p:sp>
        <p:nvSpPr>
          <p:cNvPr id="247" name="Text 244"/>
          <p:cNvSpPr/>
          <p:nvPr/>
        </p:nvSpPr>
        <p:spPr>
          <a:xfrm>
            <a:off x="732493" y="22838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Hard to Navigate</a:t>
            </a:r>
            <a:endParaRPr lang="en-US" sz="1100" dirty="0"/>
          </a:p>
        </p:txBody>
      </p:sp>
      <p:sp>
        <p:nvSpPr>
          <p:cNvPr id="248" name="Text 245"/>
          <p:cNvSpPr/>
          <p:nvPr/>
        </p:nvSpPr>
        <p:spPr>
          <a:xfrm>
            <a:off x="635508" y="2633472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/>
              <a:t>New students spent weeks unable to find buildings, labs, and offices across a sprawling campus</a:t>
            </a:r>
            <a:r>
              <a:rPr lang="en-US" sz="950" dirty="0">
                <a:solidFill>
                  <a:srgbClr val="8BA4C0"/>
                </a:solidFill>
              </a:rPr>
              <a:t>.</a:t>
            </a:r>
            <a:endParaRPr lang="en-US" sz="950" dirty="0"/>
          </a:p>
        </p:txBody>
      </p:sp>
      <p:sp>
        <p:nvSpPr>
          <p:cNvPr id="249" name="Shape 246"/>
          <p:cNvSpPr/>
          <p:nvPr/>
        </p:nvSpPr>
        <p:spPr>
          <a:xfrm>
            <a:off x="3589020" y="1121794"/>
            <a:ext cx="1965960" cy="352044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54480"/>
            <a:ext cx="640080" cy="640080"/>
          </a:xfrm>
          <a:prstGeom prst="rect">
            <a:avLst/>
          </a:prstGeom>
        </p:spPr>
      </p:pic>
      <p:sp>
        <p:nvSpPr>
          <p:cNvPr id="251" name="Text 247"/>
          <p:cNvSpPr/>
          <p:nvPr/>
        </p:nvSpPr>
        <p:spPr>
          <a:xfrm>
            <a:off x="3646900" y="226615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Scattered Info</a:t>
            </a:r>
            <a:endParaRPr lang="en-US" sz="1100" dirty="0"/>
          </a:p>
        </p:txBody>
      </p:sp>
      <p:sp>
        <p:nvSpPr>
          <p:cNvPr id="252" name="Text 248"/>
          <p:cNvSpPr/>
          <p:nvPr/>
        </p:nvSpPr>
        <p:spPr>
          <a:xfrm>
            <a:off x="3680460" y="2633472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/>
              <a:t>Campus info was spread across notice boards, emails, PDFs, and the web portal — no single source of truth.</a:t>
            </a:r>
          </a:p>
        </p:txBody>
      </p:sp>
      <p:sp>
        <p:nvSpPr>
          <p:cNvPr id="257" name="Shape 252"/>
          <p:cNvSpPr/>
          <p:nvPr/>
        </p:nvSpPr>
        <p:spPr>
          <a:xfrm>
            <a:off x="6414516" y="1121794"/>
            <a:ext cx="1965960" cy="352044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454480"/>
            <a:ext cx="640080" cy="640080"/>
          </a:xfrm>
          <a:prstGeom prst="rect">
            <a:avLst/>
          </a:prstGeom>
        </p:spPr>
      </p:pic>
      <p:sp>
        <p:nvSpPr>
          <p:cNvPr id="259" name="Text 253"/>
          <p:cNvSpPr/>
          <p:nvPr/>
        </p:nvSpPr>
        <p:spPr>
          <a:xfrm>
            <a:off x="6488349" y="225856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Disconnected</a:t>
            </a:r>
            <a:endParaRPr lang="en-US" sz="1100" dirty="0"/>
          </a:p>
        </p:txBody>
      </p:sp>
      <p:sp>
        <p:nvSpPr>
          <p:cNvPr id="260" name="Text 254"/>
          <p:cNvSpPr/>
          <p:nvPr/>
        </p:nvSpPr>
        <p:spPr>
          <a:xfrm>
            <a:off x="6488349" y="2633472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/>
              <a:t>Finding a lecturer's office or a support department required multiple enquiries at the front desk.</a:t>
            </a:r>
          </a:p>
        </p:txBody>
      </p:sp>
      <p:sp>
        <p:nvSpPr>
          <p:cNvPr id="261" name="Shape 25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C9A7"/>
                </a:solidFill>
              </a:rPr>
              <a:t>"One app. Every campus resource. Always up to date."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01 · OUR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Structure &amp; Roles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697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0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Project Leader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Sprint planning, stakeholder comms, Gantt/PERT charts, final documentation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97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90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Frontend Developer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8013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React Native UI, navigation, MapModule, EventsModule, responsive screens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234440"/>
            <a:ext cx="2697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90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8013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Node.js API, controllers, JWT auth, FCM push notifications, ORM queries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17520"/>
            <a:ext cx="2697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735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Database Engineer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PostgreSQL schema design, migrations, indexing strategy, data seeding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3260" y="3017520"/>
            <a:ext cx="2697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2735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UI/UX Designer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5844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Figma wireframes, WCAG accessibility compliance, screen prototypes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017520"/>
            <a:ext cx="2697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2735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QA &amp; Tester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5844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Test cases, integration testing, requirements traceability matrix, bug reports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/>
              <a:t>02 · PROCESS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Development Methodology</a:t>
            </a:r>
            <a:endParaRPr lang="en-US" sz="3400" dirty="0"/>
          </a:p>
        </p:txBody>
      </p:sp>
      <p:sp>
        <p:nvSpPr>
          <p:cNvPr id="245" name="Shape 243"/>
          <p:cNvSpPr/>
          <p:nvPr/>
        </p:nvSpPr>
        <p:spPr>
          <a:xfrm>
            <a:off x="164592" y="1234440"/>
            <a:ext cx="160020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164592" y="1234440"/>
            <a:ext cx="16002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164592" y="1234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Sprint 0</a:t>
            </a:r>
            <a:endParaRPr lang="en-US" sz="1400" dirty="0"/>
          </a:p>
        </p:txBody>
      </p:sp>
      <p:sp>
        <p:nvSpPr>
          <p:cNvPr id="248" name="Text 246"/>
          <p:cNvSpPr/>
          <p:nvPr/>
        </p:nvSpPr>
        <p:spPr>
          <a:xfrm>
            <a:off x="228600" y="1572768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Inception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329184" y="20574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457200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SRS document</a:t>
            </a:r>
          </a:p>
        </p:txBody>
      </p:sp>
      <p:sp>
        <p:nvSpPr>
          <p:cNvPr id="251" name="Shape 249"/>
          <p:cNvSpPr/>
          <p:nvPr/>
        </p:nvSpPr>
        <p:spPr>
          <a:xfrm>
            <a:off x="329184" y="26243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457200" y="2569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Team roles</a:t>
            </a:r>
          </a:p>
        </p:txBody>
      </p:sp>
      <p:sp>
        <p:nvSpPr>
          <p:cNvPr id="253" name="Shape 251"/>
          <p:cNvSpPr/>
          <p:nvPr/>
        </p:nvSpPr>
        <p:spPr>
          <a:xfrm>
            <a:off x="329184" y="31912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457200" y="31363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GitHub repo setup</a:t>
            </a:r>
          </a:p>
        </p:txBody>
      </p:sp>
      <p:sp>
        <p:nvSpPr>
          <p:cNvPr id="255" name="Shape 253"/>
          <p:cNvSpPr/>
          <p:nvPr/>
        </p:nvSpPr>
        <p:spPr>
          <a:xfrm>
            <a:off x="329184" y="37581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57200" y="3703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Backlog creation</a:t>
            </a:r>
          </a:p>
        </p:txBody>
      </p:sp>
      <p:sp>
        <p:nvSpPr>
          <p:cNvPr id="257" name="Shape 255"/>
          <p:cNvSpPr/>
          <p:nvPr/>
        </p:nvSpPr>
        <p:spPr>
          <a:xfrm>
            <a:off x="1764792" y="2880360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947672" y="1234440"/>
            <a:ext cx="160020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9" name="Shape 257"/>
          <p:cNvSpPr/>
          <p:nvPr/>
        </p:nvSpPr>
        <p:spPr>
          <a:xfrm>
            <a:off x="1947672" y="1234440"/>
            <a:ext cx="16002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1947672" y="1234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Sprint 1-2</a:t>
            </a:r>
            <a:endParaRPr lang="en-US" sz="1400" dirty="0"/>
          </a:p>
        </p:txBody>
      </p:sp>
      <p:sp>
        <p:nvSpPr>
          <p:cNvPr id="261" name="Text 259"/>
          <p:cNvSpPr/>
          <p:nvPr/>
        </p:nvSpPr>
        <p:spPr>
          <a:xfrm>
            <a:off x="2011680" y="1572768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Architecture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2112264" y="20574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2240280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SDD document</a:t>
            </a:r>
          </a:p>
        </p:txBody>
      </p:sp>
      <p:sp>
        <p:nvSpPr>
          <p:cNvPr id="264" name="Shape 262"/>
          <p:cNvSpPr/>
          <p:nvPr/>
        </p:nvSpPr>
        <p:spPr>
          <a:xfrm>
            <a:off x="2112264" y="26243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240280" y="2569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DB schema design</a:t>
            </a:r>
          </a:p>
        </p:txBody>
      </p:sp>
      <p:sp>
        <p:nvSpPr>
          <p:cNvPr id="266" name="Shape 264"/>
          <p:cNvSpPr/>
          <p:nvPr/>
        </p:nvSpPr>
        <p:spPr>
          <a:xfrm>
            <a:off x="2112264" y="31912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2240280" y="31363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API contract definition</a:t>
            </a:r>
          </a:p>
        </p:txBody>
      </p:sp>
      <p:sp>
        <p:nvSpPr>
          <p:cNvPr id="268" name="Shape 266"/>
          <p:cNvSpPr/>
          <p:nvPr/>
        </p:nvSpPr>
        <p:spPr>
          <a:xfrm>
            <a:off x="2112264" y="37581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2240280" y="3703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Figma wireframes</a:t>
            </a:r>
          </a:p>
        </p:txBody>
      </p:sp>
      <p:sp>
        <p:nvSpPr>
          <p:cNvPr id="270" name="Shape 268"/>
          <p:cNvSpPr/>
          <p:nvPr/>
        </p:nvSpPr>
        <p:spPr>
          <a:xfrm>
            <a:off x="3547872" y="2880360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730752" y="1234440"/>
            <a:ext cx="160020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2" name="Shape 270"/>
          <p:cNvSpPr/>
          <p:nvPr/>
        </p:nvSpPr>
        <p:spPr>
          <a:xfrm>
            <a:off x="3730752" y="1234440"/>
            <a:ext cx="16002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3730752" y="1234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Sprint 3-5</a:t>
            </a:r>
            <a:endParaRPr lang="en-US" sz="1400" dirty="0"/>
          </a:p>
        </p:txBody>
      </p:sp>
      <p:sp>
        <p:nvSpPr>
          <p:cNvPr id="274" name="Text 272"/>
          <p:cNvSpPr/>
          <p:nvPr/>
        </p:nvSpPr>
        <p:spPr>
          <a:xfrm>
            <a:off x="3794760" y="1572768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Core Build</a:t>
            </a:r>
            <a:endParaRPr lang="en-US" sz="1100" dirty="0"/>
          </a:p>
        </p:txBody>
      </p:sp>
      <p:sp>
        <p:nvSpPr>
          <p:cNvPr id="275" name="Shape 273"/>
          <p:cNvSpPr/>
          <p:nvPr/>
        </p:nvSpPr>
        <p:spPr>
          <a:xfrm>
            <a:off x="3895344" y="20574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4023360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Auth &amp; Map modules</a:t>
            </a:r>
          </a:p>
        </p:txBody>
      </p:sp>
      <p:sp>
        <p:nvSpPr>
          <p:cNvPr id="277" name="Shape 275"/>
          <p:cNvSpPr/>
          <p:nvPr/>
        </p:nvSpPr>
        <p:spPr>
          <a:xfrm>
            <a:off x="3895344" y="26243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4023360" y="2569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Directory &amp; Events APIs</a:t>
            </a:r>
          </a:p>
        </p:txBody>
      </p:sp>
      <p:sp>
        <p:nvSpPr>
          <p:cNvPr id="279" name="Shape 277"/>
          <p:cNvSpPr/>
          <p:nvPr/>
        </p:nvSpPr>
        <p:spPr>
          <a:xfrm>
            <a:off x="3895344" y="31912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023360" y="31363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Basic UI screens</a:t>
            </a:r>
          </a:p>
        </p:txBody>
      </p:sp>
      <p:sp>
        <p:nvSpPr>
          <p:cNvPr id="281" name="Shape 279"/>
          <p:cNvSpPr/>
          <p:nvPr/>
        </p:nvSpPr>
        <p:spPr>
          <a:xfrm>
            <a:off x="3895344" y="37581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4023360" y="3703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Unit tests</a:t>
            </a:r>
          </a:p>
        </p:txBody>
      </p:sp>
      <p:sp>
        <p:nvSpPr>
          <p:cNvPr id="283" name="Shape 281"/>
          <p:cNvSpPr/>
          <p:nvPr/>
        </p:nvSpPr>
        <p:spPr>
          <a:xfrm>
            <a:off x="5330952" y="2880360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513832" y="1234440"/>
            <a:ext cx="160020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5" name="Shape 283"/>
          <p:cNvSpPr/>
          <p:nvPr/>
        </p:nvSpPr>
        <p:spPr>
          <a:xfrm>
            <a:off x="5513832" y="1216152"/>
            <a:ext cx="16002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5513832" y="1234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Sprint 6-7</a:t>
            </a:r>
            <a:endParaRPr lang="en-US" sz="1400" dirty="0"/>
          </a:p>
        </p:txBody>
      </p:sp>
      <p:sp>
        <p:nvSpPr>
          <p:cNvPr id="287" name="Text 285"/>
          <p:cNvSpPr/>
          <p:nvPr/>
        </p:nvSpPr>
        <p:spPr>
          <a:xfrm>
            <a:off x="5577840" y="1572768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Integration</a:t>
            </a:r>
            <a:endParaRPr lang="en-US" sz="1100" dirty="0"/>
          </a:p>
        </p:txBody>
      </p:sp>
      <p:sp>
        <p:nvSpPr>
          <p:cNvPr id="288" name="Shape 286"/>
          <p:cNvSpPr/>
          <p:nvPr/>
        </p:nvSpPr>
        <p:spPr>
          <a:xfrm>
            <a:off x="5678424" y="20574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806440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Push notifications</a:t>
            </a:r>
          </a:p>
        </p:txBody>
      </p:sp>
      <p:sp>
        <p:nvSpPr>
          <p:cNvPr id="290" name="Shape 288"/>
          <p:cNvSpPr/>
          <p:nvPr/>
        </p:nvSpPr>
        <p:spPr>
          <a:xfrm>
            <a:off x="5678424" y="26243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5806440" y="2569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Offline caching</a:t>
            </a:r>
          </a:p>
        </p:txBody>
      </p:sp>
      <p:sp>
        <p:nvSpPr>
          <p:cNvPr id="292" name="Shape 290"/>
          <p:cNvSpPr/>
          <p:nvPr/>
        </p:nvSpPr>
        <p:spPr>
          <a:xfrm>
            <a:off x="5678424" y="31912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5806440" y="31363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API integration tests</a:t>
            </a:r>
          </a:p>
        </p:txBody>
      </p:sp>
      <p:sp>
        <p:nvSpPr>
          <p:cNvPr id="294" name="Shape 292"/>
          <p:cNvSpPr/>
          <p:nvPr/>
        </p:nvSpPr>
        <p:spPr>
          <a:xfrm>
            <a:off x="5678424" y="37581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5806440" y="3703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QA cycles</a:t>
            </a:r>
          </a:p>
        </p:txBody>
      </p:sp>
      <p:sp>
        <p:nvSpPr>
          <p:cNvPr id="296" name="Shape 294"/>
          <p:cNvSpPr/>
          <p:nvPr/>
        </p:nvSpPr>
        <p:spPr>
          <a:xfrm>
            <a:off x="7114032" y="2880360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296912" y="1234440"/>
            <a:ext cx="1600200" cy="3566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8" name="Shape 296"/>
          <p:cNvSpPr/>
          <p:nvPr/>
        </p:nvSpPr>
        <p:spPr>
          <a:xfrm>
            <a:off x="7296912" y="1234440"/>
            <a:ext cx="16002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7296912" y="1234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Sprint 8</a:t>
            </a:r>
            <a:endParaRPr lang="en-US" sz="1400" dirty="0"/>
          </a:p>
        </p:txBody>
      </p:sp>
      <p:sp>
        <p:nvSpPr>
          <p:cNvPr id="300" name="Text 298"/>
          <p:cNvSpPr/>
          <p:nvPr/>
        </p:nvSpPr>
        <p:spPr>
          <a:xfrm>
            <a:off x="7360920" y="1572768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Release</a:t>
            </a:r>
            <a:endParaRPr lang="en-US" sz="1100" dirty="0"/>
          </a:p>
        </p:txBody>
      </p:sp>
      <p:sp>
        <p:nvSpPr>
          <p:cNvPr id="301" name="Shape 299"/>
          <p:cNvSpPr/>
          <p:nvPr/>
        </p:nvSpPr>
        <p:spPr>
          <a:xfrm>
            <a:off x="7461504" y="20574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7589520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Bug fixes</a:t>
            </a:r>
          </a:p>
        </p:txBody>
      </p:sp>
      <p:sp>
        <p:nvSpPr>
          <p:cNvPr id="303" name="Shape 301"/>
          <p:cNvSpPr/>
          <p:nvPr/>
        </p:nvSpPr>
        <p:spPr>
          <a:xfrm>
            <a:off x="7461504" y="26243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7589520" y="2569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Performance tuning</a:t>
            </a:r>
          </a:p>
        </p:txBody>
      </p:sp>
      <p:sp>
        <p:nvSpPr>
          <p:cNvPr id="305" name="Shape 303"/>
          <p:cNvSpPr/>
          <p:nvPr/>
        </p:nvSpPr>
        <p:spPr>
          <a:xfrm>
            <a:off x="7461504" y="31912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7589520" y="31363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Documentation</a:t>
            </a:r>
          </a:p>
        </p:txBody>
      </p:sp>
      <p:sp>
        <p:nvSpPr>
          <p:cNvPr id="307" name="Shape 305"/>
          <p:cNvSpPr/>
          <p:nvPr/>
        </p:nvSpPr>
        <p:spPr>
          <a:xfrm>
            <a:off x="7461504" y="37581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7589520" y="3703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Demo &amp; review</a:t>
            </a:r>
          </a:p>
        </p:txBody>
      </p:sp>
      <p:sp>
        <p:nvSpPr>
          <p:cNvPr id="309" name="Shape 30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4C0"/>
                </a:solidFill>
              </a:rPr>
              <a:t>Tools used:  GitHub  ·  Trello  ·  Figma  ·  Postman  ·  VS Code  ·  Discord  ·  Google Meet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02 · PLANNING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Artefacts We Produced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270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1298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160934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Defined the campus navigation and information gap problem with stakeholder interviews and survey results.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20700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07008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270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9472" y="1298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SRS Document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19472" y="160934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Captured 16 functional and non-functional requirements with use-case diagrams and acceptance criteria.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44144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441448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614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" y="2532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4632" y="284378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18-week schedule across 8 sprints, tracking milestones, dependencies, and critical path.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244144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441448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6148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19472" y="2532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PERT Chart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919472" y="284378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Activity network diagram identifying the critical path and float times for all development tasks.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" y="367588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675888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99592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84632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SDD (IEEE 1016)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84632" y="407822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Full Software Design Description conforming to IEEE Std 1016-2009 with 8 sections and all design viewpoints.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54880" y="367588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675888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995928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19472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919472" y="407822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Team repository with branch strategy (main / develop / feature-*), pull request reviews, and CI checks.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03 · ARCHITECTURE</a:t>
            </a:r>
            <a:endParaRPr lang="en-US" sz="12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System Architecture</a:t>
            </a:r>
            <a:endParaRPr lang="en-US" sz="3400" dirty="0"/>
          </a:p>
        </p:txBody>
      </p:sp>
      <p:sp>
        <p:nvSpPr>
          <p:cNvPr id="245" name="Shape 243"/>
          <p:cNvSpPr/>
          <p:nvPr/>
        </p:nvSpPr>
        <p:spPr>
          <a:xfrm>
            <a:off x="365760" y="1188720"/>
            <a:ext cx="2606040" cy="36118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365760" y="1188720"/>
            <a:ext cx="260604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36576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Tier 1</a:t>
            </a:r>
            <a:endParaRPr lang="en-US" sz="1100" dirty="0"/>
          </a:p>
        </p:txBody>
      </p:sp>
      <p:pic>
        <p:nvPicPr>
          <p:cNvPr id="2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572768"/>
            <a:ext cx="640080" cy="640080"/>
          </a:xfrm>
          <a:prstGeom prst="rect">
            <a:avLst/>
          </a:prstGeom>
        </p:spPr>
      </p:pic>
      <p:sp>
        <p:nvSpPr>
          <p:cNvPr id="249" name="Text 246"/>
          <p:cNvSpPr/>
          <p:nvPr/>
        </p:nvSpPr>
        <p:spPr>
          <a:xfrm>
            <a:off x="457200" y="23042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Mobile Client</a:t>
            </a:r>
            <a:endParaRPr lang="en-US" sz="1300" dirty="0"/>
          </a:p>
        </p:txBody>
      </p:sp>
      <p:sp>
        <p:nvSpPr>
          <p:cNvPr id="250" name="Text 247"/>
          <p:cNvSpPr/>
          <p:nvPr/>
        </p:nvSpPr>
        <p:spPr>
          <a:xfrm>
            <a:off x="457200" y="26151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/>
              <a:t>React Native</a:t>
            </a:r>
            <a:endParaRPr lang="en-US" sz="1100" dirty="0"/>
          </a:p>
        </p:txBody>
      </p:sp>
      <p:sp>
        <p:nvSpPr>
          <p:cNvPr id="251" name="Shape 248"/>
          <p:cNvSpPr/>
          <p:nvPr/>
        </p:nvSpPr>
        <p:spPr>
          <a:xfrm>
            <a:off x="640080" y="2999232"/>
            <a:ext cx="82296" cy="8229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iOS &amp; Android</a:t>
            </a:r>
          </a:p>
        </p:txBody>
      </p:sp>
      <p:sp>
        <p:nvSpPr>
          <p:cNvPr id="253" name="Shape 250"/>
          <p:cNvSpPr/>
          <p:nvPr/>
        </p:nvSpPr>
        <p:spPr>
          <a:xfrm>
            <a:off x="640080" y="3429000"/>
            <a:ext cx="82296" cy="8229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4" name="Text 251"/>
          <p:cNvSpPr/>
          <p:nvPr/>
        </p:nvSpPr>
        <p:spPr>
          <a:xfrm>
            <a:off x="768096" y="337413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GPS Location</a:t>
            </a:r>
          </a:p>
        </p:txBody>
      </p:sp>
      <p:sp>
        <p:nvSpPr>
          <p:cNvPr id="255" name="Shape 252"/>
          <p:cNvSpPr/>
          <p:nvPr/>
        </p:nvSpPr>
        <p:spPr>
          <a:xfrm>
            <a:off x="640080" y="3858768"/>
            <a:ext cx="82296" cy="8229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768096" y="38039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Offline Cache</a:t>
            </a:r>
          </a:p>
        </p:txBody>
      </p:sp>
      <p:sp>
        <p:nvSpPr>
          <p:cNvPr id="257" name="Shape 254"/>
          <p:cNvSpPr/>
          <p:nvPr/>
        </p:nvSpPr>
        <p:spPr>
          <a:xfrm>
            <a:off x="640080" y="4288536"/>
            <a:ext cx="82296" cy="8229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768096" y="42336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Push Notifs</a:t>
            </a:r>
          </a:p>
        </p:txBody>
      </p:sp>
      <p:sp>
        <p:nvSpPr>
          <p:cNvPr id="259" name="Shape 256"/>
          <p:cNvSpPr/>
          <p:nvPr/>
        </p:nvSpPr>
        <p:spPr>
          <a:xfrm>
            <a:off x="2971800" y="2971800"/>
            <a:ext cx="320040" cy="45720"/>
          </a:xfrm>
          <a:prstGeom prst="rect">
            <a:avLst/>
          </a:prstGeom>
          <a:solidFill>
            <a:srgbClr val="8BA4C0"/>
          </a:solidFill>
          <a:ln w="12700">
            <a:solidFill>
              <a:srgbClr val="8BA4C0"/>
            </a:solidFill>
            <a:prstDash val="solid"/>
          </a:ln>
        </p:spPr>
      </p:sp>
      <p:sp>
        <p:nvSpPr>
          <p:cNvPr id="260" name="Text 257"/>
          <p:cNvSpPr/>
          <p:nvPr/>
        </p:nvSpPr>
        <p:spPr>
          <a:xfrm>
            <a:off x="2971800" y="27889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C0"/>
                </a:solidFill>
              </a:rPr>
              <a:t>HTTPS</a:t>
            </a:r>
            <a:endParaRPr lang="en-US" sz="700" dirty="0"/>
          </a:p>
        </p:txBody>
      </p:sp>
      <p:sp>
        <p:nvSpPr>
          <p:cNvPr id="261" name="Shape 258"/>
          <p:cNvSpPr/>
          <p:nvPr/>
        </p:nvSpPr>
        <p:spPr>
          <a:xfrm>
            <a:off x="3291840" y="1188720"/>
            <a:ext cx="2606040" cy="36118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2" name="Shape 259"/>
          <p:cNvSpPr/>
          <p:nvPr/>
        </p:nvSpPr>
        <p:spPr>
          <a:xfrm>
            <a:off x="3291840" y="1188720"/>
            <a:ext cx="2606040" cy="2743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329184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Tier 2</a:t>
            </a:r>
            <a:endParaRPr lang="en-US" sz="1100" dirty="0"/>
          </a:p>
        </p:txBody>
      </p:sp>
      <p:pic>
        <p:nvPicPr>
          <p:cNvPr id="26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72768"/>
            <a:ext cx="640080" cy="640080"/>
          </a:xfrm>
          <a:prstGeom prst="rect">
            <a:avLst/>
          </a:prstGeom>
        </p:spPr>
      </p:pic>
      <p:sp>
        <p:nvSpPr>
          <p:cNvPr id="265" name="Text 261"/>
          <p:cNvSpPr/>
          <p:nvPr/>
        </p:nvSpPr>
        <p:spPr>
          <a:xfrm>
            <a:off x="3383280" y="23042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API Server</a:t>
            </a:r>
            <a:endParaRPr lang="en-US" sz="1300" dirty="0"/>
          </a:p>
        </p:txBody>
      </p:sp>
      <p:sp>
        <p:nvSpPr>
          <p:cNvPr id="266" name="Text 262"/>
          <p:cNvSpPr/>
          <p:nvPr/>
        </p:nvSpPr>
        <p:spPr>
          <a:xfrm>
            <a:off x="3383280" y="26151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/>
              <a:t>Node.js / Express</a:t>
            </a:r>
            <a:endParaRPr lang="en-US" sz="1100" dirty="0"/>
          </a:p>
        </p:txBody>
      </p:sp>
      <p:sp>
        <p:nvSpPr>
          <p:cNvPr id="267" name="Shape 263"/>
          <p:cNvSpPr/>
          <p:nvPr/>
        </p:nvSpPr>
        <p:spPr>
          <a:xfrm>
            <a:off x="3566160" y="2999232"/>
            <a:ext cx="82296" cy="82296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68" name="Text 264"/>
          <p:cNvSpPr/>
          <p:nvPr/>
        </p:nvSpPr>
        <p:spPr>
          <a:xfrm>
            <a:off x="3694176" y="2944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REST Endpoints</a:t>
            </a:r>
          </a:p>
        </p:txBody>
      </p:sp>
      <p:sp>
        <p:nvSpPr>
          <p:cNvPr id="269" name="Shape 265"/>
          <p:cNvSpPr/>
          <p:nvPr/>
        </p:nvSpPr>
        <p:spPr>
          <a:xfrm>
            <a:off x="3566160" y="3429000"/>
            <a:ext cx="82296" cy="82296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0" name="Text 266"/>
          <p:cNvSpPr/>
          <p:nvPr/>
        </p:nvSpPr>
        <p:spPr>
          <a:xfrm>
            <a:off x="3694176" y="337413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JWT Auth</a:t>
            </a:r>
          </a:p>
        </p:txBody>
      </p:sp>
      <p:sp>
        <p:nvSpPr>
          <p:cNvPr id="271" name="Shape 267"/>
          <p:cNvSpPr/>
          <p:nvPr/>
        </p:nvSpPr>
        <p:spPr>
          <a:xfrm>
            <a:off x="3566160" y="3858768"/>
            <a:ext cx="82296" cy="82296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2" name="Text 268"/>
          <p:cNvSpPr/>
          <p:nvPr/>
        </p:nvSpPr>
        <p:spPr>
          <a:xfrm>
            <a:off x="3694176" y="38039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Business Logic</a:t>
            </a:r>
          </a:p>
        </p:txBody>
      </p:sp>
      <p:sp>
        <p:nvSpPr>
          <p:cNvPr id="273" name="Shape 269"/>
          <p:cNvSpPr/>
          <p:nvPr/>
        </p:nvSpPr>
        <p:spPr>
          <a:xfrm>
            <a:off x="3566160" y="4288536"/>
            <a:ext cx="82296" cy="82296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4" name="Text 270"/>
          <p:cNvSpPr/>
          <p:nvPr/>
        </p:nvSpPr>
        <p:spPr>
          <a:xfrm>
            <a:off x="3694176" y="42336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FCM Integration</a:t>
            </a:r>
          </a:p>
        </p:txBody>
      </p:sp>
      <p:sp>
        <p:nvSpPr>
          <p:cNvPr id="275" name="Shape 271"/>
          <p:cNvSpPr/>
          <p:nvPr/>
        </p:nvSpPr>
        <p:spPr>
          <a:xfrm>
            <a:off x="5897880" y="2971800"/>
            <a:ext cx="320040" cy="45720"/>
          </a:xfrm>
          <a:prstGeom prst="rect">
            <a:avLst/>
          </a:prstGeom>
          <a:solidFill>
            <a:srgbClr val="8BA4C0"/>
          </a:solidFill>
          <a:ln w="12700">
            <a:solidFill>
              <a:srgbClr val="8BA4C0"/>
            </a:solidFill>
            <a:prstDash val="solid"/>
          </a:ln>
        </p:spPr>
      </p:sp>
      <p:sp>
        <p:nvSpPr>
          <p:cNvPr id="276" name="Text 272"/>
          <p:cNvSpPr/>
          <p:nvPr/>
        </p:nvSpPr>
        <p:spPr>
          <a:xfrm>
            <a:off x="5897880" y="27889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C0"/>
                </a:solidFill>
              </a:rPr>
              <a:t>HTTPS</a:t>
            </a:r>
            <a:endParaRPr lang="en-US" sz="700" dirty="0"/>
          </a:p>
        </p:txBody>
      </p:sp>
      <p:sp>
        <p:nvSpPr>
          <p:cNvPr id="277" name="Shape 273"/>
          <p:cNvSpPr/>
          <p:nvPr/>
        </p:nvSpPr>
        <p:spPr>
          <a:xfrm>
            <a:off x="6217920" y="1188720"/>
            <a:ext cx="2606040" cy="36118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8" name="Shape 274"/>
          <p:cNvSpPr/>
          <p:nvPr/>
        </p:nvSpPr>
        <p:spPr>
          <a:xfrm>
            <a:off x="6217920" y="1188720"/>
            <a:ext cx="260604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9" name="Text 275"/>
          <p:cNvSpPr/>
          <p:nvPr/>
        </p:nvSpPr>
        <p:spPr>
          <a:xfrm>
            <a:off x="621792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Tier 3</a:t>
            </a:r>
            <a:endParaRPr lang="en-US" sz="1100" dirty="0"/>
          </a:p>
        </p:txBody>
      </p:sp>
      <p:pic>
        <p:nvPicPr>
          <p:cNvPr id="28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572768"/>
            <a:ext cx="640080" cy="640080"/>
          </a:xfrm>
          <a:prstGeom prst="rect">
            <a:avLst/>
          </a:prstGeom>
        </p:spPr>
      </p:pic>
      <p:sp>
        <p:nvSpPr>
          <p:cNvPr id="281" name="Text 276"/>
          <p:cNvSpPr/>
          <p:nvPr/>
        </p:nvSpPr>
        <p:spPr>
          <a:xfrm>
            <a:off x="6309360" y="23042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Data Layer</a:t>
            </a:r>
            <a:endParaRPr lang="en-US" sz="1300" dirty="0"/>
          </a:p>
        </p:txBody>
      </p:sp>
      <p:sp>
        <p:nvSpPr>
          <p:cNvPr id="282" name="Text 277"/>
          <p:cNvSpPr/>
          <p:nvPr/>
        </p:nvSpPr>
        <p:spPr>
          <a:xfrm>
            <a:off x="6309360" y="26151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/>
              <a:t>PostgreSQL</a:t>
            </a:r>
            <a:endParaRPr lang="en-US" sz="1100" dirty="0"/>
          </a:p>
        </p:txBody>
      </p:sp>
      <p:sp>
        <p:nvSpPr>
          <p:cNvPr id="283" name="Shape 278"/>
          <p:cNvSpPr/>
          <p:nvPr/>
        </p:nvSpPr>
        <p:spPr>
          <a:xfrm>
            <a:off x="6492240" y="2999232"/>
            <a:ext cx="82296" cy="82296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4" name="Text 279"/>
          <p:cNvSpPr/>
          <p:nvPr/>
        </p:nvSpPr>
        <p:spPr>
          <a:xfrm>
            <a:off x="6620256" y="2944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User Records</a:t>
            </a:r>
          </a:p>
        </p:txBody>
      </p:sp>
      <p:sp>
        <p:nvSpPr>
          <p:cNvPr id="285" name="Shape 280"/>
          <p:cNvSpPr/>
          <p:nvPr/>
        </p:nvSpPr>
        <p:spPr>
          <a:xfrm>
            <a:off x="6492240" y="3429000"/>
            <a:ext cx="82296" cy="82296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6" name="Text 281"/>
          <p:cNvSpPr/>
          <p:nvPr/>
        </p:nvSpPr>
        <p:spPr>
          <a:xfrm>
            <a:off x="6620256" y="337413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Locations DB</a:t>
            </a:r>
          </a:p>
        </p:txBody>
      </p:sp>
      <p:sp>
        <p:nvSpPr>
          <p:cNvPr id="287" name="Shape 282"/>
          <p:cNvSpPr/>
          <p:nvPr/>
        </p:nvSpPr>
        <p:spPr>
          <a:xfrm>
            <a:off x="6492240" y="3858768"/>
            <a:ext cx="82296" cy="82296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8" name="Text 283"/>
          <p:cNvSpPr/>
          <p:nvPr/>
        </p:nvSpPr>
        <p:spPr>
          <a:xfrm>
            <a:off x="6620256" y="38039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Events &amp; Notices</a:t>
            </a:r>
          </a:p>
        </p:txBody>
      </p:sp>
      <p:sp>
        <p:nvSpPr>
          <p:cNvPr id="289" name="Shape 284"/>
          <p:cNvSpPr/>
          <p:nvPr/>
        </p:nvSpPr>
        <p:spPr>
          <a:xfrm>
            <a:off x="6492240" y="4288536"/>
            <a:ext cx="82296" cy="82296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0" name="Text 285"/>
          <p:cNvSpPr/>
          <p:nvPr/>
        </p:nvSpPr>
        <p:spPr>
          <a:xfrm>
            <a:off x="6620256" y="42336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Favourites</a:t>
            </a:r>
          </a:p>
        </p:txBody>
      </p:sp>
      <p:sp>
        <p:nvSpPr>
          <p:cNvPr id="291" name="Shape 28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29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773168"/>
            <a:ext cx="274320" cy="274320"/>
          </a:xfrm>
          <a:prstGeom prst="rect">
            <a:avLst/>
          </a:prstGeom>
        </p:spPr>
      </p:pic>
      <p:sp>
        <p:nvSpPr>
          <p:cNvPr id="293" name="Text 287"/>
          <p:cNvSpPr/>
          <p:nvPr/>
        </p:nvSpPr>
        <p:spPr>
          <a:xfrm>
            <a:off x="658368" y="4736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0"/>
                </a:solidFill>
              </a:rPr>
              <a:t>All client–server communication secured with HTTPS + JWT authentication  ·  No direct database access from mobile client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04 ·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Core Features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0759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Interactive Campus Map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154533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Zoomable map with colour-coded building markers, GPS location dot, one-tap PoI info cards, and walking-route polylines.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195681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956816"/>
            <a:ext cx="54864" cy="658368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57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Campus Directory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78992" y="22951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Debounced full-text search across staff profiles and departments. Tapping a result deep-links to the building on the map.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70662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706624"/>
            <a:ext cx="54864" cy="65836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80720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Events &amp; Timetables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78992" y="30449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Monthly calendar with per-day event lists. Add-to-reminder schedules a local push notification 30 minutes before each event.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345643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456432"/>
            <a:ext cx="54864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5701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Notices &amp; Alerts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78992" y="37947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Admin-published campus announcements with priority levels. Urgent notices trigger real-time Firebase Cloud Messaging push notifications.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4206240"/>
            <a:ext cx="54864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0682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78992" y="4279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User Profiles &amp; Favs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78992" y="454456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University SSO login, saved favourite locations, configurable notification preferences, and biometric login on return sessions.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17151" y="2587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04 · MAP FEATURE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Campus Map — Deep Dive</a:t>
            </a:r>
            <a:endParaRPr lang="en-US" sz="3000" dirty="0"/>
          </a:p>
        </p:txBody>
      </p:sp>
      <p:sp>
        <p:nvSpPr>
          <p:cNvPr id="245" name="Shape 243"/>
          <p:cNvSpPr/>
          <p:nvPr/>
        </p:nvSpPr>
        <p:spPr>
          <a:xfrm>
            <a:off x="365760" y="1143000"/>
            <a:ext cx="3108960" cy="3749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502920" y="1298448"/>
            <a:ext cx="2834640" cy="3438144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02920" y="1298448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02920" y="1728216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02920" y="2157984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02920" y="2587752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502920" y="3017520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02920" y="3447288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02920" y="3877056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02920" y="4306824"/>
            <a:ext cx="2834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02920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05256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307592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709928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2112264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514600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916936" y="1298448"/>
            <a:ext cx="9144" cy="3438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40080" y="1554480"/>
            <a:ext cx="91440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737360" y="1508760"/>
            <a:ext cx="7772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21792" y="2331720"/>
            <a:ext cx="6400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554480" y="2267712"/>
            <a:ext cx="109728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58368" y="3017520"/>
            <a:ext cx="12801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2057400" y="2999232"/>
            <a:ext cx="86868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640080" y="3712464"/>
            <a:ext cx="7315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691640" y="3657600"/>
            <a:ext cx="10058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E4A7F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417320" y="274320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371600" y="2697480"/>
            <a:ext cx="292608" cy="292608"/>
          </a:xfrm>
          <a:prstGeom prst="ellipse">
            <a:avLst/>
          </a:prstGeom>
          <a:solidFill>
            <a:srgbClr val="00C9A7">
              <a:alpha val="35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48640" y="1344168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566928" y="1362456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🔍  Search campus...</a:t>
            </a:r>
            <a:endParaRPr lang="en-US" sz="750" dirty="0"/>
          </a:p>
        </p:txBody>
      </p:sp>
      <p:sp>
        <p:nvSpPr>
          <p:cNvPr id="274" name="Shape 272"/>
          <p:cNvSpPr/>
          <p:nvPr/>
        </p:nvSpPr>
        <p:spPr>
          <a:xfrm>
            <a:off x="3794760" y="1234440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379476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01</a:t>
            </a:r>
            <a:endParaRPr lang="en-US" sz="850" dirty="0"/>
          </a:p>
        </p:txBody>
      </p:sp>
      <p:sp>
        <p:nvSpPr>
          <p:cNvPr id="276" name="Text 274"/>
          <p:cNvSpPr/>
          <p:nvPr/>
        </p:nvSpPr>
        <p:spPr>
          <a:xfrm>
            <a:off x="4206240" y="1188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Permission Request</a:t>
            </a:r>
            <a:endParaRPr lang="en-US" sz="1600" dirty="0"/>
          </a:p>
        </p:txBody>
      </p:sp>
      <p:sp>
        <p:nvSpPr>
          <p:cNvPr id="277" name="Text 275"/>
          <p:cNvSpPr/>
          <p:nvPr/>
        </p:nvSpPr>
        <p:spPr>
          <a:xfrm>
            <a:off x="4206240" y="14813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0"/>
                </a:solidFill>
              </a:rPr>
              <a:t>On first launch, the app requests device location permission via the OS dialog.</a:t>
            </a:r>
            <a:endParaRPr lang="en-US" sz="1100" dirty="0"/>
          </a:p>
        </p:txBody>
      </p:sp>
      <p:sp>
        <p:nvSpPr>
          <p:cNvPr id="278" name="Shape 276"/>
          <p:cNvSpPr/>
          <p:nvPr/>
        </p:nvSpPr>
        <p:spPr>
          <a:xfrm>
            <a:off x="3794760" y="1993392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79476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02</a:t>
            </a:r>
            <a:endParaRPr lang="en-US" sz="850" dirty="0"/>
          </a:p>
        </p:txBody>
      </p:sp>
      <p:sp>
        <p:nvSpPr>
          <p:cNvPr id="280" name="Text 278"/>
          <p:cNvSpPr/>
          <p:nvPr/>
        </p:nvSpPr>
        <p:spPr>
          <a:xfrm>
            <a:off x="4206240" y="1947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Tile Loading</a:t>
            </a:r>
            <a:endParaRPr lang="en-US" sz="1600" dirty="0"/>
          </a:p>
        </p:txBody>
      </p:sp>
      <p:sp>
        <p:nvSpPr>
          <p:cNvPr id="281" name="Text 279"/>
          <p:cNvSpPr/>
          <p:nvPr/>
        </p:nvSpPr>
        <p:spPr>
          <a:xfrm>
            <a:off x="4206240" y="22402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0"/>
                </a:solidFill>
              </a:rPr>
              <a:t>Map tiles are fetched from the CDN. PoI markers are loaded from GET /api/v1/locations.</a:t>
            </a:r>
            <a:endParaRPr lang="en-US" sz="1100" dirty="0"/>
          </a:p>
        </p:txBody>
      </p:sp>
      <p:sp>
        <p:nvSpPr>
          <p:cNvPr id="282" name="Shape 280"/>
          <p:cNvSpPr/>
          <p:nvPr/>
        </p:nvSpPr>
        <p:spPr>
          <a:xfrm>
            <a:off x="3794760" y="2752344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794760" y="2752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03</a:t>
            </a:r>
            <a:endParaRPr lang="en-US" sz="850" dirty="0"/>
          </a:p>
        </p:txBody>
      </p:sp>
      <p:sp>
        <p:nvSpPr>
          <p:cNvPr id="284" name="Text 282"/>
          <p:cNvSpPr/>
          <p:nvPr/>
        </p:nvSpPr>
        <p:spPr>
          <a:xfrm>
            <a:off x="4206240" y="27066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GPS Overlay</a:t>
            </a:r>
            <a:endParaRPr lang="en-US" sz="1600" dirty="0"/>
          </a:p>
        </p:txBody>
      </p:sp>
      <p:sp>
        <p:nvSpPr>
          <p:cNvPr id="285" name="Text 283"/>
          <p:cNvSpPr/>
          <p:nvPr/>
        </p:nvSpPr>
        <p:spPr>
          <a:xfrm>
            <a:off x="4206240" y="29992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0"/>
                </a:solidFill>
              </a:rPr>
              <a:t>User's live coordinates are overlaid as a pulsing blue dot updated every 5 seconds.</a:t>
            </a:r>
            <a:endParaRPr lang="en-US" sz="1100" dirty="0"/>
          </a:p>
        </p:txBody>
      </p:sp>
      <p:sp>
        <p:nvSpPr>
          <p:cNvPr id="286" name="Shape 284"/>
          <p:cNvSpPr/>
          <p:nvPr/>
        </p:nvSpPr>
        <p:spPr>
          <a:xfrm>
            <a:off x="3794760" y="3511296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3794760" y="3511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04</a:t>
            </a:r>
            <a:endParaRPr lang="en-US" sz="850" dirty="0"/>
          </a:p>
        </p:txBody>
      </p:sp>
      <p:sp>
        <p:nvSpPr>
          <p:cNvPr id="288" name="Text 286"/>
          <p:cNvSpPr/>
          <p:nvPr/>
        </p:nvSpPr>
        <p:spPr>
          <a:xfrm>
            <a:off x="4206240" y="34655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Search &amp; Filter</a:t>
            </a:r>
            <a:endParaRPr lang="en-US" sz="1600" dirty="0"/>
          </a:p>
        </p:txBody>
      </p:sp>
      <p:sp>
        <p:nvSpPr>
          <p:cNvPr id="289" name="Text 287"/>
          <p:cNvSpPr/>
          <p:nvPr/>
        </p:nvSpPr>
        <p:spPr>
          <a:xfrm>
            <a:off x="4206240" y="37581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0"/>
                </a:solidFill>
              </a:rPr>
              <a:t>Text input triggers a debounced API query; results animate the map camera to match.</a:t>
            </a:r>
            <a:endParaRPr lang="en-US" sz="1100" dirty="0"/>
          </a:p>
        </p:txBody>
      </p:sp>
      <p:sp>
        <p:nvSpPr>
          <p:cNvPr id="290" name="Shape 288"/>
          <p:cNvSpPr/>
          <p:nvPr/>
        </p:nvSpPr>
        <p:spPr>
          <a:xfrm>
            <a:off x="3794760" y="4270248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379476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05</a:t>
            </a:r>
            <a:endParaRPr lang="en-US" sz="850" dirty="0"/>
          </a:p>
        </p:txBody>
      </p:sp>
      <p:sp>
        <p:nvSpPr>
          <p:cNvPr id="292" name="Text 290"/>
          <p:cNvSpPr/>
          <p:nvPr/>
        </p:nvSpPr>
        <p:spPr>
          <a:xfrm>
            <a:off x="4206240" y="42245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Route Rendering</a:t>
            </a:r>
            <a:endParaRPr lang="en-US" sz="1600" dirty="0"/>
          </a:p>
        </p:txBody>
      </p:sp>
      <p:sp>
        <p:nvSpPr>
          <p:cNvPr id="293" name="Text 291"/>
          <p:cNvSpPr/>
          <p:nvPr/>
        </p:nvSpPr>
        <p:spPr>
          <a:xfrm>
            <a:off x="4206240" y="45171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0"/>
                </a:solidFill>
              </a:rPr>
              <a:t>Tapping 'Get Directions' fetches a pre-computed campus path and draws a polyline.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03 · DATA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Flows Through the App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47472" y="1321308"/>
            <a:ext cx="150876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Student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" y="1993392"/>
            <a:ext cx="1417320" cy="18288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299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A1628"/>
                </a:solidFill>
              </a:rPr>
              <a:t>e.g. Search for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0A1628"/>
                </a:solidFill>
              </a:rPr>
              <a:t>a building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56232" y="1947672"/>
            <a:ext cx="228600" cy="45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1737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84832" y="1325880"/>
            <a:ext cx="150876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React Native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/>
              <a:t>Client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30552" y="1993392"/>
            <a:ext cx="14173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20299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/>
              <a:t>Sends HTTPS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/>
              <a:t>GET request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93592" y="1947672"/>
            <a:ext cx="228600" cy="45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737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22192" y="1325880"/>
            <a:ext cx="150876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22192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JWT 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/>
              <a:t>Middleware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67912" y="1993392"/>
            <a:ext cx="14173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20299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/>
              <a:t>Validates token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/>
              <a:t>or returns 401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30952" y="1947672"/>
            <a:ext cx="228600" cy="45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737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59552" y="1325880"/>
            <a:ext cx="150876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59552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Controller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5272" y="1993392"/>
            <a:ext cx="1417320" cy="18288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20299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A1628"/>
                </a:solidFill>
              </a:rPr>
              <a:t>Executes query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0A1628"/>
                </a:solidFill>
              </a:rPr>
              <a:t>via Sequelize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68312" y="1947672"/>
            <a:ext cx="228600" cy="45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737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96912" y="1325880"/>
            <a:ext cx="150876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96912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/>
              <a:t>Database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42632" y="1993392"/>
            <a:ext cx="14173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20299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/>
              <a:t>Returns matching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/>
              <a:t>records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063240"/>
            <a:ext cx="827532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27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/>
              <a:t>Response returns: JSON data → Client renders UI update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0040" y="352044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520440"/>
            <a:ext cx="54864" cy="123444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49040"/>
            <a:ext cx="502920" cy="5029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115568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Offline Mode (CacheModule)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115568" y="39319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When there is no network, the CacheModule intercepts API calls and returns data from AsyncStorage. The app displays a 'Cached' badge so the user knows the data may not be the very latest. On reconnect, a background sync refreshes all stale data silently.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05 · TECH STACK</a:t>
            </a:r>
            <a:endParaRPr lang="en-US" sz="12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Decisions &amp; Rationale</a:t>
            </a:r>
            <a:endParaRPr lang="en-US" sz="3400" dirty="0"/>
          </a:p>
        </p:txBody>
      </p:sp>
      <p:sp>
        <p:nvSpPr>
          <p:cNvPr id="245" name="Shape 243"/>
          <p:cNvSpPr/>
          <p:nvPr/>
        </p:nvSpPr>
        <p:spPr>
          <a:xfrm>
            <a:off x="320040" y="1234440"/>
            <a:ext cx="4160520" cy="1115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320040" y="1234440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611880" y="1298448"/>
            <a:ext cx="795528" cy="2377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8" name="Text 246"/>
          <p:cNvSpPr/>
          <p:nvPr/>
        </p:nvSpPr>
        <p:spPr>
          <a:xfrm>
            <a:off x="3611880" y="1298448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/>
              <a:t>Frontend</a:t>
            </a:r>
            <a:endParaRPr lang="en-US" sz="1000" dirty="0"/>
          </a:p>
        </p:txBody>
      </p:sp>
      <p:sp>
        <p:nvSpPr>
          <p:cNvPr id="249" name="Text 247"/>
          <p:cNvSpPr/>
          <p:nvPr/>
        </p:nvSpPr>
        <p:spPr>
          <a:xfrm>
            <a:off x="484632" y="13075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React Native</a:t>
            </a:r>
            <a:endParaRPr lang="en-US" sz="1200" dirty="0"/>
          </a:p>
        </p:txBody>
      </p:sp>
      <p:sp>
        <p:nvSpPr>
          <p:cNvPr id="250" name="Text 248"/>
          <p:cNvSpPr/>
          <p:nvPr/>
        </p:nvSpPr>
        <p:spPr>
          <a:xfrm>
            <a:off x="484632" y="161848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Single codebase for iOS + Android. Familiar JavaScript ecosystem. Rich community of campus-app focused libraries.</a:t>
            </a:r>
          </a:p>
        </p:txBody>
      </p:sp>
      <p:sp>
        <p:nvSpPr>
          <p:cNvPr id="251" name="Shape 249"/>
          <p:cNvSpPr/>
          <p:nvPr/>
        </p:nvSpPr>
        <p:spPr>
          <a:xfrm>
            <a:off x="4754880" y="1234440"/>
            <a:ext cx="4160520" cy="1115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2" name="Shape 250"/>
          <p:cNvSpPr/>
          <p:nvPr/>
        </p:nvSpPr>
        <p:spPr>
          <a:xfrm>
            <a:off x="4754880" y="1234440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046720" y="1298448"/>
            <a:ext cx="795528" cy="2377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54" name="Text 252"/>
          <p:cNvSpPr/>
          <p:nvPr/>
        </p:nvSpPr>
        <p:spPr>
          <a:xfrm>
            <a:off x="8046720" y="1298448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/>
              <a:t>Backend</a:t>
            </a:r>
            <a:endParaRPr lang="en-US" sz="1100" dirty="0"/>
          </a:p>
        </p:txBody>
      </p:sp>
      <p:sp>
        <p:nvSpPr>
          <p:cNvPr id="255" name="Text 253"/>
          <p:cNvSpPr/>
          <p:nvPr/>
        </p:nvSpPr>
        <p:spPr>
          <a:xfrm>
            <a:off x="4919472" y="13075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Node.js + Express</a:t>
            </a:r>
            <a:endParaRPr lang="en-US" sz="1200" dirty="0"/>
          </a:p>
        </p:txBody>
      </p:sp>
      <p:sp>
        <p:nvSpPr>
          <p:cNvPr id="256" name="Text 254"/>
          <p:cNvSpPr/>
          <p:nvPr/>
        </p:nvSpPr>
        <p:spPr>
          <a:xfrm>
            <a:off x="4919472" y="161848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JavaScript throughout the stack reduces context switching. Non-blocking I/O handles concurrent student requests efficiently</a:t>
            </a:r>
            <a:r>
              <a:rPr lang="en-US" sz="900" dirty="0">
                <a:solidFill>
                  <a:srgbClr val="8BA4C0"/>
                </a:solidFill>
              </a:rPr>
              <a:t>.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320040" y="2496312"/>
            <a:ext cx="4160520" cy="1115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20040" y="2496312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611880" y="2560320"/>
            <a:ext cx="795528" cy="2377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60" name="Text 258"/>
          <p:cNvSpPr/>
          <p:nvPr/>
        </p:nvSpPr>
        <p:spPr>
          <a:xfrm>
            <a:off x="3611880" y="2560320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/>
              <a:t>Database</a:t>
            </a:r>
            <a:endParaRPr lang="en-US" sz="1100" dirty="0"/>
          </a:p>
        </p:txBody>
      </p:sp>
      <p:sp>
        <p:nvSpPr>
          <p:cNvPr id="261" name="Text 259"/>
          <p:cNvSpPr/>
          <p:nvPr/>
        </p:nvSpPr>
        <p:spPr>
          <a:xfrm>
            <a:off x="484632" y="25694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PostgreSQL</a:t>
            </a:r>
            <a:endParaRPr lang="en-US" sz="1200" dirty="0"/>
          </a:p>
        </p:txBody>
      </p:sp>
      <p:sp>
        <p:nvSpPr>
          <p:cNvPr id="262" name="Text 260"/>
          <p:cNvSpPr/>
          <p:nvPr/>
        </p:nvSpPr>
        <p:spPr>
          <a:xfrm>
            <a:off x="484632" y="28803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ACID-compliant, robust relational model for structured campus data. JSONB support for flexible operating-hours data.</a:t>
            </a:r>
          </a:p>
        </p:txBody>
      </p:sp>
      <p:sp>
        <p:nvSpPr>
          <p:cNvPr id="263" name="Shape 261"/>
          <p:cNvSpPr/>
          <p:nvPr/>
        </p:nvSpPr>
        <p:spPr>
          <a:xfrm>
            <a:off x="4754880" y="2496312"/>
            <a:ext cx="4160520" cy="1115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4" name="Shape 262"/>
          <p:cNvSpPr/>
          <p:nvPr/>
        </p:nvSpPr>
        <p:spPr>
          <a:xfrm>
            <a:off x="4754880" y="2496312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046720" y="2560320"/>
            <a:ext cx="795528" cy="2377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66" name="Text 264"/>
          <p:cNvSpPr/>
          <p:nvPr/>
        </p:nvSpPr>
        <p:spPr>
          <a:xfrm>
            <a:off x="8046720" y="2560320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/>
              <a:t>Security</a:t>
            </a:r>
            <a:endParaRPr lang="en-US" sz="1100" dirty="0"/>
          </a:p>
        </p:txBody>
      </p:sp>
      <p:sp>
        <p:nvSpPr>
          <p:cNvPr id="267" name="Text 265"/>
          <p:cNvSpPr/>
          <p:nvPr/>
        </p:nvSpPr>
        <p:spPr>
          <a:xfrm>
            <a:off x="4919472" y="25694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JWT Authentication</a:t>
            </a:r>
            <a:endParaRPr lang="en-US" sz="1200" dirty="0"/>
          </a:p>
        </p:txBody>
      </p:sp>
      <p:sp>
        <p:nvSpPr>
          <p:cNvPr id="268" name="Text 266"/>
          <p:cNvSpPr/>
          <p:nvPr/>
        </p:nvSpPr>
        <p:spPr>
          <a:xfrm>
            <a:off x="4919472" y="28803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Stateless auth removes server-side session state, enabling horizontal API scaling without sticky sessions.</a:t>
            </a:r>
          </a:p>
        </p:txBody>
      </p:sp>
      <p:sp>
        <p:nvSpPr>
          <p:cNvPr id="269" name="Shape 267"/>
          <p:cNvSpPr/>
          <p:nvPr/>
        </p:nvSpPr>
        <p:spPr>
          <a:xfrm>
            <a:off x="320040" y="3758184"/>
            <a:ext cx="4160520" cy="1115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320040" y="3758184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611880" y="3822192"/>
            <a:ext cx="795528" cy="23774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3611880" y="3822192"/>
            <a:ext cx="795528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/>
              <a:t>Notifications</a:t>
            </a:r>
            <a:endParaRPr lang="en-US" sz="900" dirty="0"/>
          </a:p>
        </p:txBody>
      </p:sp>
      <p:sp>
        <p:nvSpPr>
          <p:cNvPr id="273" name="Text 271"/>
          <p:cNvSpPr/>
          <p:nvPr/>
        </p:nvSpPr>
        <p:spPr>
          <a:xfrm>
            <a:off x="484632" y="3831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Firebase Cloud Messaging</a:t>
            </a:r>
            <a:endParaRPr lang="en-US" sz="1200" dirty="0"/>
          </a:p>
        </p:txBody>
      </p:sp>
      <p:sp>
        <p:nvSpPr>
          <p:cNvPr id="274" name="Text 272"/>
          <p:cNvSpPr/>
          <p:nvPr/>
        </p:nvSpPr>
        <p:spPr>
          <a:xfrm>
            <a:off x="484632" y="41422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Cross-platform push delivery to both iOS and Android from a single API call. Reliable for urgent campus notices.</a:t>
            </a:r>
          </a:p>
        </p:txBody>
      </p:sp>
      <p:sp>
        <p:nvSpPr>
          <p:cNvPr id="275" name="Shape 273"/>
          <p:cNvSpPr/>
          <p:nvPr/>
        </p:nvSpPr>
        <p:spPr>
          <a:xfrm>
            <a:off x="4754880" y="3758184"/>
            <a:ext cx="4160520" cy="1115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6" name="Shape 274"/>
          <p:cNvSpPr/>
          <p:nvPr/>
        </p:nvSpPr>
        <p:spPr>
          <a:xfrm>
            <a:off x="4754880" y="3758184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046720" y="3822192"/>
            <a:ext cx="795528" cy="2377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78" name="Text 276"/>
          <p:cNvSpPr/>
          <p:nvPr/>
        </p:nvSpPr>
        <p:spPr>
          <a:xfrm>
            <a:off x="8046720" y="3822192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/>
              <a:t>Data Access</a:t>
            </a:r>
            <a:endParaRPr lang="en-US" sz="1000" dirty="0"/>
          </a:p>
        </p:txBody>
      </p:sp>
      <p:sp>
        <p:nvSpPr>
          <p:cNvPr id="279" name="Text 277"/>
          <p:cNvSpPr/>
          <p:nvPr/>
        </p:nvSpPr>
        <p:spPr>
          <a:xfrm>
            <a:off x="4919472" y="3831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Sequelize ORM</a:t>
            </a:r>
            <a:endParaRPr lang="en-US" sz="1200" dirty="0"/>
          </a:p>
        </p:txBody>
      </p:sp>
      <p:sp>
        <p:nvSpPr>
          <p:cNvPr id="280" name="Text 278"/>
          <p:cNvSpPr/>
          <p:nvPr/>
        </p:nvSpPr>
        <p:spPr>
          <a:xfrm>
            <a:off x="4919472" y="41422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Abstracts raw SQL behind a type-safe model layer, enforces schema consistency and simplifies migration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05 · SECURITY &amp; QA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 &amp; Testing Strategy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Security Measures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934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bcrypt Password Hashing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18196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566"/>
                </a:solidFill>
              </a:rPr>
              <a:t>Cost factor ≥ 12 to defend against brute-force attacks on stored credentials.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22128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677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231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JWT with 24h Expiry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24780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566"/>
                </a:solidFill>
              </a:rPr>
              <a:t>Short-lived tokens limit the window of exposure if a token is compromised.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0040" y="28712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8895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HTTPS Everywhere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22960" y="3136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566"/>
                </a:solidFill>
              </a:rPr>
              <a:t>TLS enforced at the API gateway; no plaintext communication permitted.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0040" y="35295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8444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547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Role-Based Access Control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22960" y="3794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566"/>
                </a:solidFill>
              </a:rPr>
              <a:t>Admin-only endpoints validate the 'admin' role claim inside the JWT before processing.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320040" y="4187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42816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4206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WCAG 2.1 AA Compliance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822960" y="44531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566"/>
                </a:solidFill>
              </a:rPr>
              <a:t>Colour contrast ≥ 4.5:1; all interactive elements keyboard and screen-reader accessible.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480060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Testing Approach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4800600" y="153619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00600" y="1536192"/>
            <a:ext cx="54864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956048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Unit Testing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956048" y="19019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Jest tests for all API controllers and utility functions.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046720" y="1645920"/>
            <a:ext cx="68580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046720" y="16459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80%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800600" y="237744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800600" y="2377440"/>
            <a:ext cx="54864" cy="71323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956048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Integration Testing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956048" y="2743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Postman collections for all 14 API endpoints.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8046720" y="2487168"/>
            <a:ext cx="685800" cy="402336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046720" y="24871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75%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4800600" y="321868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800600" y="3218688"/>
            <a:ext cx="54864" cy="7132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956048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UI Testing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4956048" y="3584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React Native Testing Library for 5 core screens.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8046720" y="3328416"/>
            <a:ext cx="685800" cy="402336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046720" y="332841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60%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4800600" y="405993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4800600" y="4059936"/>
            <a:ext cx="54864" cy="713232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956048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Manual QA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4956048" y="44256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66"/>
                </a:solidFill>
              </a:rPr>
              <a:t>Full requirements-matrix walkthrough by QA member.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046720" y="4169664"/>
            <a:ext cx="685800" cy="402336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046720" y="41696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100%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1628"/>
                </a:solidFill>
              </a:rPr>
              <a:t>06 · REFLECTIONS</a:t>
            </a:r>
            <a:endParaRPr lang="en-US" sz="1200" dirty="0"/>
          </a:p>
        </p:txBody>
      </p:sp>
      <p:sp>
        <p:nvSpPr>
          <p:cNvPr id="244" name="Text 24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 &amp; What We Learned</a:t>
            </a:r>
            <a:endParaRPr lang="en-US" sz="3000" dirty="0"/>
          </a:p>
        </p:txBody>
      </p:sp>
      <p:sp>
        <p:nvSpPr>
          <p:cNvPr id="245" name="Shape 243"/>
          <p:cNvSpPr/>
          <p:nvPr/>
        </p:nvSpPr>
        <p:spPr>
          <a:xfrm>
            <a:off x="359340" y="1234440"/>
            <a:ext cx="4160520" cy="10972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320040" y="1234440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84632" y="12893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/>
              <a:t>CHALLENGE</a:t>
            </a:r>
            <a:endParaRPr lang="en-US" sz="1000" dirty="0"/>
          </a:p>
        </p:txBody>
      </p:sp>
      <p:sp>
        <p:nvSpPr>
          <p:cNvPr id="248" name="Text 246"/>
          <p:cNvSpPr/>
          <p:nvPr/>
        </p:nvSpPr>
        <p:spPr>
          <a:xfrm>
            <a:off x="484632" y="1435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/>
              <a:t>GPS accuracy indoors</a:t>
            </a:r>
            <a:endParaRPr lang="en-US" sz="1100" dirty="0"/>
          </a:p>
        </p:txBody>
      </p:sp>
      <p:sp>
        <p:nvSpPr>
          <p:cNvPr id="249" name="Text 247"/>
          <p:cNvSpPr/>
          <p:nvPr/>
        </p:nvSpPr>
        <p:spPr>
          <a:xfrm>
            <a:off x="484632" y="1764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LESSON</a:t>
            </a:r>
            <a:endParaRPr lang="en-US" sz="1100" dirty="0"/>
          </a:p>
        </p:txBody>
      </p:sp>
      <p:sp>
        <p:nvSpPr>
          <p:cNvPr id="250" name="Text 248"/>
          <p:cNvSpPr/>
          <p:nvPr/>
        </p:nvSpPr>
        <p:spPr>
          <a:xfrm>
            <a:off x="484632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Added a manual building-select fallback for when GPS signal was unreliable inside campus buildings</a:t>
            </a:r>
            <a:r>
              <a:rPr lang="en-US" sz="900" dirty="0">
                <a:solidFill>
                  <a:srgbClr val="8BA4C0"/>
                </a:solidFill>
              </a:rPr>
              <a:t>.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4754880" y="1234440"/>
            <a:ext cx="4160520" cy="10972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2" name="Shape 250"/>
          <p:cNvSpPr/>
          <p:nvPr/>
        </p:nvSpPr>
        <p:spPr>
          <a:xfrm>
            <a:off x="4754880" y="1234440"/>
            <a:ext cx="54864" cy="109728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4919472" y="12893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CHALLENGE</a:t>
            </a:r>
            <a:endParaRPr lang="en-US" sz="1100" dirty="0"/>
          </a:p>
        </p:txBody>
      </p:sp>
      <p:sp>
        <p:nvSpPr>
          <p:cNvPr id="254" name="Text 252"/>
          <p:cNvSpPr/>
          <p:nvPr/>
        </p:nvSpPr>
        <p:spPr>
          <a:xfrm>
            <a:off x="4919472" y="1435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Merge conflicts on GitHub</a:t>
            </a:r>
            <a:endParaRPr lang="en-US" sz="1200" dirty="0"/>
          </a:p>
        </p:txBody>
      </p:sp>
      <p:sp>
        <p:nvSpPr>
          <p:cNvPr id="255" name="Text 253"/>
          <p:cNvSpPr/>
          <p:nvPr/>
        </p:nvSpPr>
        <p:spPr>
          <a:xfrm>
            <a:off x="4919472" y="1764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LESSON</a:t>
            </a:r>
            <a:endParaRPr lang="en-US" sz="1100" dirty="0"/>
          </a:p>
        </p:txBody>
      </p:sp>
      <p:sp>
        <p:nvSpPr>
          <p:cNvPr id="256" name="Text 254"/>
          <p:cNvSpPr/>
          <p:nvPr/>
        </p:nvSpPr>
        <p:spPr>
          <a:xfrm>
            <a:off x="4919472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Enforced a strict feature-branch policy and mandatory PR reviews before merging into develop.</a:t>
            </a:r>
          </a:p>
        </p:txBody>
      </p:sp>
      <p:sp>
        <p:nvSpPr>
          <p:cNvPr id="257" name="Shape 255"/>
          <p:cNvSpPr/>
          <p:nvPr/>
        </p:nvSpPr>
        <p:spPr>
          <a:xfrm>
            <a:off x="320040" y="2468880"/>
            <a:ext cx="4160520" cy="10972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320040" y="2468880"/>
            <a:ext cx="54864" cy="109728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84632" y="25237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CHALLENGE</a:t>
            </a:r>
            <a:endParaRPr lang="en-US" sz="1100" dirty="0"/>
          </a:p>
        </p:txBody>
      </p:sp>
      <p:sp>
        <p:nvSpPr>
          <p:cNvPr id="260" name="Text 258"/>
          <p:cNvSpPr/>
          <p:nvPr/>
        </p:nvSpPr>
        <p:spPr>
          <a:xfrm>
            <a:off x="484632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Offline sync edge cases</a:t>
            </a:r>
            <a:endParaRPr lang="en-US" sz="1200" dirty="0"/>
          </a:p>
        </p:txBody>
      </p:sp>
      <p:sp>
        <p:nvSpPr>
          <p:cNvPr id="261" name="Text 259"/>
          <p:cNvSpPr/>
          <p:nvPr/>
        </p:nvSpPr>
        <p:spPr>
          <a:xfrm>
            <a:off x="484632" y="29992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LESSON</a:t>
            </a:r>
            <a:endParaRPr lang="en-US" sz="1100" dirty="0"/>
          </a:p>
        </p:txBody>
      </p:sp>
      <p:sp>
        <p:nvSpPr>
          <p:cNvPr id="262" name="Text 260"/>
          <p:cNvSpPr/>
          <p:nvPr/>
        </p:nvSpPr>
        <p:spPr>
          <a:xfrm>
            <a:off x="484632" y="3145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Implemented optimistic UI updates with rollback logic to handle stale cache vs. live data conflicts</a:t>
            </a:r>
            <a:r>
              <a:rPr lang="en-US" sz="900" dirty="0">
                <a:solidFill>
                  <a:srgbClr val="8BA4C0"/>
                </a:solidFill>
              </a:rPr>
              <a:t>.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4754880" y="2468880"/>
            <a:ext cx="4160520" cy="10972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4" name="Shape 262"/>
          <p:cNvSpPr/>
          <p:nvPr/>
        </p:nvSpPr>
        <p:spPr>
          <a:xfrm>
            <a:off x="4754880" y="2468880"/>
            <a:ext cx="54864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919472" y="25237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CHALLENGE</a:t>
            </a:r>
            <a:endParaRPr lang="en-US" sz="1100" dirty="0"/>
          </a:p>
        </p:txBody>
      </p:sp>
      <p:sp>
        <p:nvSpPr>
          <p:cNvPr id="266" name="Text 264"/>
          <p:cNvSpPr/>
          <p:nvPr/>
        </p:nvSpPr>
        <p:spPr>
          <a:xfrm>
            <a:off x="4919472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FCM token management</a:t>
            </a:r>
            <a:endParaRPr lang="en-US" sz="1200" dirty="0"/>
          </a:p>
        </p:txBody>
      </p:sp>
      <p:sp>
        <p:nvSpPr>
          <p:cNvPr id="267" name="Text 265"/>
          <p:cNvSpPr/>
          <p:nvPr/>
        </p:nvSpPr>
        <p:spPr>
          <a:xfrm>
            <a:off x="4919472" y="29992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/>
              <a:t>LESSON</a:t>
            </a:r>
            <a:endParaRPr lang="en-US" sz="1200" dirty="0"/>
          </a:p>
        </p:txBody>
      </p:sp>
      <p:sp>
        <p:nvSpPr>
          <p:cNvPr id="268" name="Text 266"/>
          <p:cNvSpPr/>
          <p:nvPr/>
        </p:nvSpPr>
        <p:spPr>
          <a:xfrm>
            <a:off x="4919472" y="3145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Added a token-refresh check on every app launch so push notifications reached all active users reliably</a:t>
            </a:r>
            <a:r>
              <a:rPr lang="en-US" sz="900" dirty="0">
                <a:solidFill>
                  <a:srgbClr val="8BA4C0"/>
                </a:solidFill>
              </a:rPr>
              <a:t>.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320040" y="3703320"/>
            <a:ext cx="4160520" cy="10972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320040" y="3703320"/>
            <a:ext cx="54864" cy="10972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84632" y="3758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CHALLENGE</a:t>
            </a:r>
            <a:endParaRPr lang="en-US" sz="1100" dirty="0"/>
          </a:p>
        </p:txBody>
      </p:sp>
      <p:sp>
        <p:nvSpPr>
          <p:cNvPr id="272" name="Text 270"/>
          <p:cNvSpPr/>
          <p:nvPr/>
        </p:nvSpPr>
        <p:spPr>
          <a:xfrm>
            <a:off x="484632" y="3904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Scope creep in Sprint 5</a:t>
            </a:r>
            <a:endParaRPr lang="en-US" sz="1200" dirty="0"/>
          </a:p>
        </p:txBody>
      </p:sp>
      <p:sp>
        <p:nvSpPr>
          <p:cNvPr id="273" name="Text 271"/>
          <p:cNvSpPr/>
          <p:nvPr/>
        </p:nvSpPr>
        <p:spPr>
          <a:xfrm>
            <a:off x="484632" y="42336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/>
              <a:t>LESSON</a:t>
            </a:r>
            <a:endParaRPr lang="en-US" sz="1200" dirty="0"/>
          </a:p>
        </p:txBody>
      </p:sp>
      <p:sp>
        <p:nvSpPr>
          <p:cNvPr id="274" name="Text 272"/>
          <p:cNvSpPr/>
          <p:nvPr/>
        </p:nvSpPr>
        <p:spPr>
          <a:xfrm>
            <a:off x="484632" y="43799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Introduced a change-request log and team vote for any new features to protect the delivery timeline.</a:t>
            </a:r>
          </a:p>
        </p:txBody>
      </p:sp>
      <p:sp>
        <p:nvSpPr>
          <p:cNvPr id="275" name="Shape 273"/>
          <p:cNvSpPr/>
          <p:nvPr/>
        </p:nvSpPr>
        <p:spPr>
          <a:xfrm>
            <a:off x="4754880" y="3703320"/>
            <a:ext cx="4160520" cy="109728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6" name="Shape 274"/>
          <p:cNvSpPr/>
          <p:nvPr/>
        </p:nvSpPr>
        <p:spPr>
          <a:xfrm>
            <a:off x="4754880" y="3703320"/>
            <a:ext cx="54864" cy="1097280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4919472" y="3758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CHALLENGE</a:t>
            </a:r>
            <a:endParaRPr lang="en-US" sz="1100" dirty="0"/>
          </a:p>
        </p:txBody>
      </p:sp>
      <p:sp>
        <p:nvSpPr>
          <p:cNvPr id="278" name="Text 276"/>
          <p:cNvSpPr/>
          <p:nvPr/>
        </p:nvSpPr>
        <p:spPr>
          <a:xfrm>
            <a:off x="4919472" y="3904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SDD compliance (IEEE 1016</a:t>
            </a:r>
            <a:r>
              <a:rPr lang="en-US" sz="1100" b="1" dirty="0"/>
              <a:t>)</a:t>
            </a:r>
            <a:endParaRPr lang="en-US" sz="1100" dirty="0"/>
          </a:p>
        </p:txBody>
      </p:sp>
      <p:sp>
        <p:nvSpPr>
          <p:cNvPr id="279" name="Text 277"/>
          <p:cNvSpPr/>
          <p:nvPr/>
        </p:nvSpPr>
        <p:spPr>
          <a:xfrm>
            <a:off x="4919472" y="42336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/>
              <a:t>LESSON</a:t>
            </a:r>
            <a:endParaRPr lang="en-US" sz="1100" dirty="0"/>
          </a:p>
        </p:txBody>
      </p:sp>
      <p:sp>
        <p:nvSpPr>
          <p:cNvPr id="280" name="Text 278"/>
          <p:cNvSpPr/>
          <p:nvPr/>
        </p:nvSpPr>
        <p:spPr>
          <a:xfrm>
            <a:off x="4919472" y="43799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Assigned one team member as documentation lead per sprint, ensuring continuous rather than last-minute writing</a:t>
            </a:r>
            <a:r>
              <a:rPr lang="en-US" sz="900" dirty="0">
                <a:solidFill>
                  <a:srgbClr val="8BA4C0"/>
                </a:solidFill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A1628"/>
                </a:solidFill>
              </a:rPr>
              <a:t>04 · UX WALKTHROUGH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Screen-by-Screen User Journey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508760" cy="2926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335024"/>
            <a:ext cx="1362456" cy="2615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335024"/>
            <a:ext cx="1362456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3441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Login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4632" y="1773936"/>
            <a:ext cx="100584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2157984"/>
            <a:ext cx="82296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542032"/>
            <a:ext cx="109728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926080"/>
            <a:ext cx="73152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3310128"/>
            <a:ext cx="91440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604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93192" y="3703320"/>
            <a:ext cx="1362456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1879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5566"/>
                </a:solidFill>
              </a:rPr>
              <a:t>University credentials + biometric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057400" y="1188720"/>
            <a:ext cx="1508760" cy="2926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130552" y="1335024"/>
            <a:ext cx="1362456" cy="2615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30552" y="1335024"/>
            <a:ext cx="1362456" cy="292608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30552" y="13441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221992" y="1773936"/>
            <a:ext cx="100584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21992" y="2157984"/>
            <a:ext cx="82296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21992" y="2542032"/>
            <a:ext cx="109728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21992" y="2926080"/>
            <a:ext cx="73152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21992" y="3310128"/>
            <a:ext cx="91440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2606040"/>
            <a:ext cx="457200" cy="4572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130552" y="3703320"/>
            <a:ext cx="1362456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011680" y="41879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5566"/>
                </a:solidFill>
              </a:rPr>
              <a:t>Notices, events, quick-access grid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3794760" y="1188720"/>
            <a:ext cx="1508760" cy="2926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867912" y="1335024"/>
            <a:ext cx="1362456" cy="2615184"/>
          </a:xfrm>
          <a:prstGeom prst="rect">
            <a:avLst/>
          </a:prstGeom>
          <a:solidFill>
            <a:srgbClr val="162A4A"/>
          </a:solidFill>
          <a:ln w="12700">
            <a:solidFill>
              <a:srgbClr val="162A4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867912" y="1335024"/>
            <a:ext cx="1362456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867912" y="13441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Map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959352" y="1773936"/>
            <a:ext cx="100584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959352" y="2157984"/>
            <a:ext cx="82296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959352" y="2542032"/>
            <a:ext cx="109728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959352" y="2926080"/>
            <a:ext cx="73152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959352" y="3310128"/>
            <a:ext cx="91440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606040"/>
            <a:ext cx="457200" cy="45720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867912" y="3703320"/>
            <a:ext cx="1362456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749040" y="41879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5566"/>
                </a:solidFill>
              </a:rPr>
              <a:t>Interactive PoI map + directions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5532120" y="1188720"/>
            <a:ext cx="1508760" cy="2926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5605272" y="1335024"/>
            <a:ext cx="1362456" cy="2615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605272" y="1335024"/>
            <a:ext cx="1362456" cy="29260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605272" y="13441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Directory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5696712" y="1773936"/>
            <a:ext cx="100584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5696712" y="2157984"/>
            <a:ext cx="82296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696712" y="2542032"/>
            <a:ext cx="109728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696712" y="2926080"/>
            <a:ext cx="73152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5696712" y="3310128"/>
            <a:ext cx="91440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2606040"/>
            <a:ext cx="457200" cy="457200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5605272" y="3703320"/>
            <a:ext cx="1362456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486400" y="41879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5566"/>
                </a:solidFill>
              </a:rPr>
              <a:t>Staff and department search</a:t>
            </a:r>
            <a:endParaRPr lang="en-US" sz="1400" dirty="0"/>
          </a:p>
        </p:txBody>
      </p:sp>
      <p:sp>
        <p:nvSpPr>
          <p:cNvPr id="54" name="Shape 48"/>
          <p:cNvSpPr/>
          <p:nvPr/>
        </p:nvSpPr>
        <p:spPr>
          <a:xfrm>
            <a:off x="7269480" y="1188720"/>
            <a:ext cx="1508760" cy="2926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7342632" y="1335024"/>
            <a:ext cx="1362456" cy="2615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7342632" y="1335024"/>
            <a:ext cx="1362456" cy="2926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7342632" y="134416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Events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7434072" y="1773936"/>
            <a:ext cx="100584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7434072" y="2157984"/>
            <a:ext cx="82296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7434072" y="2542032"/>
            <a:ext cx="109728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7434072" y="2926080"/>
            <a:ext cx="73152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7434072" y="3310128"/>
            <a:ext cx="91440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2606040"/>
            <a:ext cx="457200" cy="457200"/>
          </a:xfrm>
          <a:prstGeom prst="rect">
            <a:avLst/>
          </a:prstGeom>
        </p:spPr>
      </p:pic>
      <p:sp>
        <p:nvSpPr>
          <p:cNvPr id="64" name="Shape 57"/>
          <p:cNvSpPr/>
          <p:nvPr/>
        </p:nvSpPr>
        <p:spPr>
          <a:xfrm>
            <a:off x="7342632" y="3703320"/>
            <a:ext cx="1362456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7223760" y="41879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5566"/>
                </a:solidFill>
              </a:rPr>
              <a:t>Calendar + timetable + reminders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4805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9611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4416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9222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24028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8833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136392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4032504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480560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928616"/>
            <a:ext cx="36576" cy="36576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-2286000" y="2286000"/>
            <a:ext cx="7315200" cy="73152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8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pic>
        <p:nvPicPr>
          <p:cNvPr id="2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245" name="Text 242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246" name="Text 243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Campus Student Guide App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47" name="Text 244"/>
          <p:cNvSpPr/>
          <p:nvPr/>
        </p:nvSpPr>
        <p:spPr>
          <a:xfrm>
            <a:off x="1371600" y="31272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bg1"/>
                </a:solidFill>
              </a:rPr>
              <a:t>Building tools that make university life easier — for every student, every day.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8" name="Shape 245"/>
          <p:cNvSpPr/>
          <p:nvPr/>
        </p:nvSpPr>
        <p:spPr>
          <a:xfrm>
            <a:off x="1280160" y="3749040"/>
            <a:ext cx="141732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9" name="Text 246"/>
          <p:cNvSpPr/>
          <p:nvPr/>
        </p:nvSpPr>
        <p:spPr>
          <a:xfrm>
            <a:off x="1280160" y="37673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250" name="Text 247"/>
          <p:cNvSpPr/>
          <p:nvPr/>
        </p:nvSpPr>
        <p:spPr>
          <a:xfrm>
            <a:off x="1280160" y="42428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/>
              <a:t>Requirements</a:t>
            </a:r>
          </a:p>
          <a:p>
            <a:pPr marL="0" indent="0" algn="ctr">
              <a:buNone/>
            </a:pPr>
            <a:r>
              <a:rPr lang="en-US" sz="1050" dirty="0"/>
              <a:t>Delivered</a:t>
            </a:r>
          </a:p>
        </p:txBody>
      </p:sp>
      <p:sp>
        <p:nvSpPr>
          <p:cNvPr id="251" name="Shape 248"/>
          <p:cNvSpPr/>
          <p:nvPr/>
        </p:nvSpPr>
        <p:spPr>
          <a:xfrm>
            <a:off x="2971800" y="3749040"/>
            <a:ext cx="141732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2" name="Text 249"/>
          <p:cNvSpPr/>
          <p:nvPr/>
        </p:nvSpPr>
        <p:spPr>
          <a:xfrm>
            <a:off x="2971800" y="37673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53" name="Text 250"/>
          <p:cNvSpPr/>
          <p:nvPr/>
        </p:nvSpPr>
        <p:spPr>
          <a:xfrm>
            <a:off x="2971800" y="42428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/>
              <a:t>Core</a:t>
            </a:r>
          </a:p>
          <a:p>
            <a:pPr marL="0" indent="0" algn="ctr">
              <a:buNone/>
            </a:pPr>
            <a:r>
              <a:rPr lang="en-US" sz="1050" dirty="0"/>
              <a:t>Features</a:t>
            </a:r>
          </a:p>
        </p:txBody>
      </p:sp>
      <p:sp>
        <p:nvSpPr>
          <p:cNvPr id="254" name="Shape 251"/>
          <p:cNvSpPr/>
          <p:nvPr/>
        </p:nvSpPr>
        <p:spPr>
          <a:xfrm>
            <a:off x="4663440" y="3749040"/>
            <a:ext cx="141732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5" name="Text 252"/>
          <p:cNvSpPr/>
          <p:nvPr/>
        </p:nvSpPr>
        <p:spPr>
          <a:xfrm>
            <a:off x="4663440" y="37673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56" name="Text 253"/>
          <p:cNvSpPr/>
          <p:nvPr/>
        </p:nvSpPr>
        <p:spPr>
          <a:xfrm>
            <a:off x="4663440" y="42428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Architecture</a:t>
            </a:r>
          </a:p>
          <a:p>
            <a:pPr marL="0" indent="0" algn="ctr">
              <a:buNone/>
            </a:pPr>
            <a:r>
              <a:rPr lang="en-US" sz="1000" dirty="0"/>
              <a:t>Tiers</a:t>
            </a:r>
          </a:p>
        </p:txBody>
      </p:sp>
      <p:sp>
        <p:nvSpPr>
          <p:cNvPr id="257" name="Shape 254"/>
          <p:cNvSpPr/>
          <p:nvPr/>
        </p:nvSpPr>
        <p:spPr>
          <a:xfrm>
            <a:off x="6355080" y="3749040"/>
            <a:ext cx="141732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8" name="Text 255"/>
          <p:cNvSpPr/>
          <p:nvPr/>
        </p:nvSpPr>
        <p:spPr>
          <a:xfrm>
            <a:off x="6355080" y="37673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59" name="Text 256"/>
          <p:cNvSpPr/>
          <p:nvPr/>
        </p:nvSpPr>
        <p:spPr>
          <a:xfrm>
            <a:off x="6355080" y="42428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Week</a:t>
            </a:r>
          </a:p>
          <a:p>
            <a:pPr marL="0" indent="0" algn="ctr">
              <a:buNone/>
            </a:pPr>
            <a:r>
              <a:rPr lang="en-US" sz="1000" dirty="0"/>
              <a:t>Timeline</a:t>
            </a:r>
          </a:p>
        </p:txBody>
      </p:sp>
      <p:sp>
        <p:nvSpPr>
          <p:cNvPr id="260" name="Shape 257"/>
          <p:cNvSpPr/>
          <p:nvPr/>
        </p:nvSpPr>
        <p:spPr>
          <a:xfrm>
            <a:off x="2926080" y="4754880"/>
            <a:ext cx="3291840" cy="274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1" name="Text 258"/>
          <p:cNvSpPr/>
          <p:nvPr/>
        </p:nvSpPr>
        <p:spPr>
          <a:xfrm>
            <a:off x="2926080" y="4764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A1628"/>
                </a:solidFill>
              </a:rPr>
              <a:t>QUESTIONS &amp; DISCUSSION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1418</Words>
  <Application>Microsoft Office PowerPoint</Application>
  <PresentationFormat>On-screen Show (16:9)</PresentationFormat>
  <Paragraphs>295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Student Guide App</dc:title>
  <dc:subject>PptxGenJS Presentation</dc:subject>
  <dc:creator>Project Team</dc:creator>
  <cp:lastModifiedBy>Londiwe</cp:lastModifiedBy>
  <cp:revision>3</cp:revision>
  <dcterms:created xsi:type="dcterms:W3CDTF">2026-05-31T18:57:23Z</dcterms:created>
  <dcterms:modified xsi:type="dcterms:W3CDTF">2026-06-10T18:28:12Z</dcterms:modified>
</cp:coreProperties>
</file>